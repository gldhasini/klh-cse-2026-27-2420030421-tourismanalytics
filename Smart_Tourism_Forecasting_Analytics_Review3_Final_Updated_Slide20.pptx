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75" r:id="rId26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7.xml"/><Relationship Id="rId27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78992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1">
                <a:solidFill>
                  <a:srgbClr val="B9DCE0"/>
                </a:solidFill>
                <a:latin typeface="Aptos"/>
              </a:rPr>
              <a:t>DATA ANALYTICS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607040" cy="12344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Smart Tourism
Forecasting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98755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E0ECF4"/>
                </a:solidFill>
                <a:latin typeface="Aptos"/>
              </a:rPr>
              <a:t>REVIEW–3 • Hybrid Forecasting, Literature Comparison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53035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Batch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526280"/>
            <a:ext cx="777240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DCE6EE"/>
                </a:solidFill>
                <a:latin typeface="Aptos"/>
              </a:rPr>
              <a:t>G. Hasini – 2420030421
G. Keertana – 2420090075
S. Rishitha – 2420090060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4709160"/>
            <a:ext cx="2926080" cy="731520"/>
          </a:xfrm>
          <a:prstGeom prst="roundRect">
            <a:avLst/>
          </a:prstGeom>
          <a:solidFill>
            <a:srgbClr val="1E5270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4709160"/>
            <a:ext cx="292608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Proposed Hybrid
XGBoost + LightGBM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72200"/>
            <a:ext cx="68580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B9C8D2"/>
                </a:solidFill>
                <a:latin typeface="Aptos"/>
              </a:rPr>
              <a:t>Review-3 presentation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1. Problem Statement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Forecast tourist arrivals from heterogeneous tourism and contextual attributes.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035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44168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91640"/>
            <a:ext cx="5047488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Tourist arrivals depend on date, location, facility, tourism indicators and weather-related signals. The target is skewed and contains heterogeneous area/facility combinations, making a single simple model insufficient.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40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64008" cy="1828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344168"/>
            <a:ext cx="518464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691640"/>
            <a:ext cx="5184648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Existing tourism forecasting research uses statistical, ML, DL and hybrid models. The challenge is selecting a combination that handles nonlinear tabular relationships while remaining practical for the supplied multi-feature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10789920" cy="24231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0789920" cy="242316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Compare multiple model combinations rather than selecting one hybrid without evidence.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Use the same chronological validation window so models are compared fairly.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Evaluate more than one error metric: MAE, RMSE, MAPE and R².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Separate validation performance from the July test set because test_df.csv has no target column.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Connect the forecast to a later capacity/resource-allocation decision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1. Problem Statement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Forecast tourist arrivals from heterogeneous tourism and contextual attributes.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3035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44168"/>
            <a:ext cx="504748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91640"/>
            <a:ext cx="5047488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Tourist arrivals depend on date, location, facility, tourism indicators and weather-related signals. The target is skewed and contains heterogeneous area/facility combinations, making a single simple model insufficient.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40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64008" cy="1828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344168"/>
            <a:ext cx="518464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691640"/>
            <a:ext cx="5184648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Existing tourism forecasting research uses statistical, ML, DL and hybrid models. The challenge is selecting a combination that handles nonlinear tabular relationships while remaining practical for the supplied multi-feature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10789920" cy="24231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10789920" cy="242316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Compare multiple model combinations rather than selecting one hybrid without evidence.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Use the same chronological validation window so models are compared fairly.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Evaluate more than one error metric: MAE, RMSE, MAPE and R².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Separate validation performance from the July test set because test_df.csv has no target column.</a:t>
            </a:r>
          </a:p>
          <a:p>
            <a:pPr>
              <a:spcAft>
                <a:spcPts val="800"/>
              </a:spcAft>
              <a:defRPr sz="1400">
                <a:solidFill>
                  <a:srgbClr val="232B32"/>
                </a:solidFill>
                <a:latin typeface="Aptos"/>
              </a:defRPr>
            </a:pPr>
            <a:r>
              <a:t>Connect the forecast to a later capacity/resource-allocation decision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2. Dataset and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Primary forecasting dataset plus supporting tourism planning datasets.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93914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File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Size / Coverage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train_df.csv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132,192 × 13 • Aug-2018 to May-2019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Supervised training; target = tourist_arrivals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test_df.csv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13,392 × 12 • July-2019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Prediction rows; target absent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submission.csv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13,392 ×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Submission template; zeros are not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resource_allocation_dataset.csv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15,000 × 34 • 2016–2057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Demand, weather, capacity, revenue and allocation context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final.csv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43,594 ×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Hotel discovery / accommodation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916">
                <a:tc>
                  <a:txBody>
                    <a:bodyPr/>
                    <a:lstStyle/>
                    <a:p>
                      <a:pPr algn="l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india_travel_destinations.csv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110 × 12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>
                          <a:solidFill>
                            <a:srgbClr val="232B32"/>
                          </a:solidFill>
                          <a:latin typeface="Aptos"/>
                        </a:rPr>
                        <a:t>Destination, season, budget, duration and crowd context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3611880"/>
            <a:ext cx="34290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64008" cy="155448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72160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069080"/>
            <a:ext cx="3172968" cy="1005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tourist_arrivals is the numeric supervised label in train_df.csv.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3611880"/>
            <a:ext cx="34290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3611880"/>
            <a:ext cx="64008" cy="15544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372160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Feature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069080"/>
            <a:ext cx="3172968" cy="1005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80" b="0">
                <a:solidFill>
                  <a:srgbClr val="232B32"/>
                </a:solidFill>
                <a:latin typeface="Aptos"/>
              </a:rPr>
              <a:t>Date + tourist_area + spot/facility + area + city + type + category + info + event + tourism_index + weather_index.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611880"/>
            <a:ext cx="3657600" cy="15544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3611880"/>
            <a:ext cx="64008" cy="155448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3721608"/>
            <a:ext cx="34015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Integration caution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4069080"/>
            <a:ext cx="3401568" cy="10058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80" b="0">
                <a:solidFill>
                  <a:srgbClr val="232B32"/>
                </a:solidFill>
                <a:latin typeface="Aptos"/>
              </a:rPr>
              <a:t>Supporting files have different schemas and coverage; they should be joined only through validated keys, not row-by-row concatenation.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3. Data Preprocessing,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Leakage prevention is essential for a time-dependent forecasting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93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9304"/>
            <a:ext cx="41148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252728"/>
            <a:ext cx="4389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Date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600200"/>
            <a:ext cx="438912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Parse date; derive year, month, day, weekday, day-of-year, ISO week and ordinal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2893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89304"/>
            <a:ext cx="41148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252728"/>
            <a:ext cx="4389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Categorical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00200"/>
            <a:ext cx="438912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Encode spot_facility, area, city, type, info and event consistently; define handling for unseen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432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8895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9504"/>
            <a:ext cx="41148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2852928"/>
            <a:ext cx="4389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Numeric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00400"/>
            <a:ext cx="438912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Use tourist_area, category, tourism_index and weather_index with date-derived fields.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432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8895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889504"/>
            <a:ext cx="41148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852928"/>
            <a:ext cx="4389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Target handling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200400"/>
            <a:ext cx="438912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Keep tourist_arrivals numeric; clip negative predictions to zero because arrivals cannot be negative.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343400"/>
            <a:ext cx="5257800" cy="1298448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20440" y="4489704"/>
            <a:ext cx="411480" cy="384048"/>
          </a:xfrm>
          <a:prstGeom prst="roundRect">
            <a:avLst/>
          </a:prstGeom>
          <a:solidFill>
            <a:srgbClr val="1E919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489704"/>
            <a:ext cx="41148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4453128"/>
            <a:ext cx="4389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50" b="1">
                <a:solidFill>
                  <a:srgbClr val="143557"/>
                </a:solidFill>
                <a:latin typeface="Aptos"/>
              </a:rPr>
              <a:t>Leakage 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800600"/>
            <a:ext cx="4389120" cy="6583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80" b="0">
                <a:solidFill>
                  <a:srgbClr val="232B32"/>
                </a:solidFill>
                <a:latin typeface="Aptos"/>
              </a:rPr>
              <a:t>Split chronologically before evaluation; do not use future target-derived aggregates.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15000"/>
            <a:ext cx="10698480" cy="438912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15000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Key rule: validation dates are later than training dates. No future validation information is allowed to influence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4. 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supplied training target is right-skewed and varies substantially across dates and 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32120" cy="2904363"/>
          </a:xfrm>
          <a:prstGeom prst="rect">
            <a:avLst/>
          </a:prstGeom>
        </p:spPr>
      </p:pic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532120" cy="29043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983480"/>
            <a:ext cx="342900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4983480"/>
            <a:ext cx="64008" cy="109728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509320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Target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440680"/>
            <a:ext cx="3172968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Mean 347.17 • Median 202 • SD 449.54 • Max 6,308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983480"/>
            <a:ext cx="342900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983480"/>
            <a:ext cx="64008" cy="10972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509320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5440680"/>
            <a:ext cx="3172968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Mean &gt; median; a small number of high-arrival rows create right skew.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983480"/>
            <a:ext cx="3429000" cy="10972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4983480"/>
            <a:ext cx="64008" cy="109728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509320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Model 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5440680"/>
            <a:ext cx="3172968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Use MAE + RMSE together; RMSE penalizes large misses more strongly.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5. Literature Review: Existing Forecasting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Literature shows that no single forecasting family dominates every tourism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64008" cy="288036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35607"/>
            <a:ext cx="23042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Statistical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2304287" cy="23317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ARIMA / SARIMA
Strong for trend and seasonality; limited when nonlinear/exogenous effects dominate.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1325880"/>
            <a:ext cx="64008" cy="288036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1435607"/>
            <a:ext cx="23042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783080"/>
            <a:ext cx="2304287" cy="23317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LSTM / CNN-LSTM
Learns nonlinear and sequential patterns; more data, tuning and computation are typically required.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64008" cy="288036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435607"/>
            <a:ext cx="23042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ML Ensembles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783080"/>
            <a:ext cx="2304287" cy="23317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Random Forest / XGBoost / LightGBM
Strong on heterogeneous tabular predictors and nonlinear feature interactions.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19" y="1325880"/>
            <a:ext cx="2560320" cy="28803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19" y="1325880"/>
            <a:ext cx="64008" cy="288036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1" y="1435607"/>
            <a:ext cx="23042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1783080"/>
            <a:ext cx="2304287" cy="23317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SARIMA-CNN-LSTM / ARIMA-LSTM
Combines complementary modelling assumptions, but increases pipeline complexity.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10698480" cy="8686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10698480" cy="8686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>
                <a:solidFill>
                  <a:srgbClr val="232B32"/>
                </a:solidFill>
                <a:latin typeface="Aptos"/>
              </a:rPr>
              <a:t>Research evidence: tourism-demand forecasting has evolved from statistical and econometric models toward AI and hybrid combinations; recent work also emphasizes leakage-free validation, multi-source predictors and tree-based learners.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650992"/>
            <a:ext cx="10607040" cy="47548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950" b="0">
                <a:solidFill>
                  <a:srgbClr val="5C6874"/>
                </a:solidFill>
                <a:latin typeface="Aptos"/>
              </a:rPr>
              <a:t>References: Song et al. (2019) review • He et al. (2021) SARIMA–CNN–LSTM • Fu &amp; Qin (2026) denoise–decompose–XGBoost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F"/>
                </a:solidFill>
              </a:defRPr>
            </a:pPr>
            <a:r>
              <a:t>Literature Models Related to the Proposed XGBoost + LightGBM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05A69"/>
                </a:solidFill>
              </a:defRPr>
            </a:pPr>
            <a:r>
              <a:t>Recent tourism-forecasting studies support the use of tree-based learning, hybrid forecasting and ensemble combination.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842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423160"/>
                <a:gridCol w="2240280"/>
                <a:gridCol w="2331720"/>
                <a:gridCol w="2148840"/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Literature model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Main idea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Limitation for our dataset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Link / relevance</a:t>
                      </a:r>
                    </a:p>
                  </a:txBody>
                  <a:tcPr anchor="ctr">
                    <a:solidFill>
                      <a:srgbClr val="19375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STL + 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STL separates seasonal/de-seasonal components; XGBoost models nonlinear patterns.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Handles trend + seasonality + nonlinear effects.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Needs a defensible time-series decomposition; our data are heterogeneous area/facility rows.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He &amp; Qian (2025/2026)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SARIMA + XGBoost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SARIMA captures linear/seasonal structure; XGBoost models nonlinear residual behaviour.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Combines statistical and ML strengths.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More dependent on explicit seasonal structure and residual construction.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Malva et al. (2025)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XGBoost / LightGBM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Gradient-boosted trees learn nonlinear tourism-demand relationships from predictors.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Well suited to heterogeneous tabular features.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A single learner may remain sensitive to model-specific errors.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Peru tourist-flow study (2026)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Ensemble / meta-learner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Combines forecasts from several models using learned or dynamic weights.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Can outperform individual models and adapt model contribution.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More complex than a transparent equal-weight blend.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>
                          <a:solidFill>
                            <a:srgbClr val="2D3441"/>
                          </a:solidFill>
                        </a:defRPr>
                      </a:pPr>
                      <a:r>
                        <a:t>Annals of Tourism Research (2025)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Proposed: XGBoost + LightGBM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Train both learners on the same feature space and average predictions.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Simple, reproducible and directly matched to tabular tourism features.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Still needs broader rolling-origin validation to confirm robustness.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050" b="1">
                          <a:solidFill>
                            <a:srgbClr val="2D3441"/>
                          </a:solidFill>
                        </a:defRPr>
                      </a:pPr>
                      <a:r>
                        <a:t>Project contribution: evaluated on prescribed dataset</a:t>
                      </a:r>
                    </a:p>
                  </a:txBody>
                  <a:tcPr anchor="ctr">
                    <a:solidFill>
                      <a:srgbClr val="E2EF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7424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STL-XGBoost: doi.org/10.1177/13548166241313411</a:t>
            </a:r>
          </a:p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SARIMA-XGBoost: doi.org/10.32877/bt.v8i2.3352</a:t>
            </a:r>
          </a:p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Peru XGBoost/LightGBM: doi.org/10.3389/frsut.2026.1876343</a:t>
            </a:r>
          </a:p>
          <a:p>
            <a:pPr>
              <a:spcAft>
                <a:spcPts val="100"/>
              </a:spcAft>
              <a:defRPr sz="950">
                <a:solidFill>
                  <a:srgbClr val="415A78"/>
                </a:solidFill>
              </a:defRPr>
            </a:pPr>
            <a:r>
              <a:t>Ensemble meta-learner: doi.org/10.1016/j.annals.2025.103959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6. Existing Hybrid Models: Limitations for 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“Why they fail” is stated as a limitation for this dataset/problem—not as a claim that the models are universally poor.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886968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Existing hybrid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Limitation in our setting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Design response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ARIMA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ARIMA captures linear structure; LSTM captures nonlinear sequences.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Requires a clear sequential structure + deep-learning tuning; more complex than needed for heterogeneous tabular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Use feature-driven tree learners.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SARIMA + XGBoost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Seasonal model + residual correction.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Depends on a defensible seasonal series and residual formulation; supplied rows are area/facility combinations.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Avoid forcing a single seasonal decomposition.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XGBoost +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Two tree ensembles reduce individual-model 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Both are tree-based but can produce correlated errors; the current run improves RMSE but not every metric.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Pair different boosting implementations.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SARIMA + CNN + LSTM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Linear seasonality + spatial/sequence feature extraction.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High modelling complexity and data requirements; difficult to justify when the project features are mainly tabular.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32B32"/>
                          </a:solidFill>
                          <a:latin typeface="Aptos"/>
                        </a:rPr>
                        <a:t>Prefer an efficient tabular hybrid.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806440"/>
            <a:ext cx="10698480" cy="420624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06440"/>
            <a:ext cx="10698480" cy="42062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Design principle → keep the complementary-model idea, but match the hybrid architecture to the actual data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7. Multiple Hybrid Combinations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final model was selected after comparing several combinations—not chosen in isolation.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98448"/>
            <a:ext cx="470916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+ 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27632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ML + 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1591056"/>
            <a:ext cx="352044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Nonlinear tabular learning + sequence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298448"/>
            <a:ext cx="470916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ARIMA + 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27632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Statistical + 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1591056"/>
            <a:ext cx="352044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Linear temporal structure + nonlinear sequence learning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852928"/>
            <a:ext cx="470916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+ 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182112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Hybrid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145536"/>
            <a:ext cx="352044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Two tree ensembles / variance reduction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743200"/>
            <a:ext cx="5166360" cy="1261872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852928"/>
            <a:ext cx="470916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SARIMA +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82112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Statistical +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3145536"/>
            <a:ext cx="352044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Seasonality + residual/nonlinear correction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4297680"/>
            <a:ext cx="5166360" cy="1261872"/>
          </a:xfrm>
          <a:prstGeom prst="roundRect">
            <a:avLst/>
          </a:prstGeom>
          <a:solidFill>
            <a:srgbClr val="DCF4F6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4407408"/>
            <a:ext cx="470916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+ LightGBM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4736592"/>
            <a:ext cx="14173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1E9191"/>
                </a:solidFill>
                <a:latin typeface="Aptos"/>
              </a:rPr>
              <a:t>Proposed hybrid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4700016"/>
            <a:ext cx="352044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70" b="0">
                <a:solidFill>
                  <a:srgbClr val="232B32"/>
                </a:solidFill>
                <a:latin typeface="Aptos"/>
              </a:rPr>
              <a:t>Two gradient-boosting learners with complementary tree-building behaviour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232B32"/>
                </a:solidFill>
                <a:latin typeface="Aptos"/>
              </a:rPr>
              <a:t>Selection criterion: balanced validation performance across absolute error, large-error sensitivity and explained variation.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5F"/>
                </a:solidFill>
              </a:defRPr>
            </a:pPr>
            <a:r>
              <a:t>8. Validation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05A69"/>
                </a:solidFill>
              </a:defRPr>
            </a:pPr>
            <a:r>
              <a:t>Chronological validation is used to prevent future information from leaking into model 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 bIns="182880" wrap="square"/>
          <a:lstStyle/>
          <a:p>
            <a:pPr algn="ctr"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Training period: </a:t>
            </a:r>
            <a:r>
              <a:rPr sz="1550">
                <a:solidFill>
                  <a:srgbClr val="2D3441"/>
                </a:solidFill>
              </a:rPr>
              <a:t>All rows with dates before 01-Apr-2019 are used for model training.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Validation period: </a:t>
            </a:r>
            <a:r>
              <a:rPr sz="1550">
                <a:solidFill>
                  <a:srgbClr val="2D3441"/>
                </a:solidFill>
              </a:rPr>
              <a:t>01-Apr-2019 to 31-May-2019 is kept as the common holdout period for every compared model.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Test period: </a:t>
            </a:r>
            <a:r>
              <a:rPr sz="1550">
                <a:solidFill>
                  <a:srgbClr val="2D3441"/>
                </a:solidFill>
              </a:rPr>
              <a:t>01-Jul-2019 to 31-Jul-2019 is reserved for final prediction; test_df.csv has no tourist_arrivals target, so no test score is calculated.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Fair comparison: </a:t>
            </a:r>
            <a:r>
              <a:rPr sz="1550">
                <a:solidFill>
                  <a:srgbClr val="2D3441"/>
                </a:solidFill>
              </a:rPr>
              <a:t>All models use the same features, preprocessing and chronological validation window.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Leakage prevention: </a:t>
            </a:r>
            <a:r>
              <a:rPr sz="1550">
                <a:solidFill>
                  <a:srgbClr val="2D3441"/>
                </a:solidFill>
              </a:rPr>
              <a:t>Future target-derived aggregates are not used, and validation information is not allowed to influence training.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Evaluation: </a:t>
            </a:r>
            <a:r>
              <a:rPr sz="1550">
                <a:solidFill>
                  <a:srgbClr val="2D3441"/>
                </a:solidFill>
              </a:rPr>
              <a:t>MAE measures average absolute error; RMSE penalizes large errors; MAPE is calculated only for rows with y &gt; 1; R² measures explained variance.</a:t>
            </a:r>
          </a:p>
          <a:p>
            <a:pPr>
              <a:spcAft>
                <a:spcPts val="800"/>
              </a:spcAft>
              <a:defRPr sz="1550">
                <a:solidFill>
                  <a:srgbClr val="2D3441"/>
                </a:solidFill>
              </a:defRPr>
            </a:pPr>
            <a:r>
              <a:rPr b="1" sz="1550">
                <a:solidFill>
                  <a:srgbClr val="19375F"/>
                </a:solidFill>
              </a:rPr>
              <a:t>Model selection: </a:t>
            </a:r>
            <a:r>
              <a:rPr sz="1550">
                <a:solidFill>
                  <a:srgbClr val="2D3441"/>
                </a:solidFill>
              </a:rPr>
              <a:t>Validation metrics are used to select the proposed hybrid. Rolling-origin validation and residual checks are recommended as the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B6987"/>
                </a:solidFill>
              </a:defRPr>
            </a:pPr>
            <a:r>
              <a:t>Same validation protocol → fair model comparison → evidence-based hybrid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9. Proposed Hybrid Model: XGBoost + 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A simple, reproducible ensemble designed for heterogeneous tourism features.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14884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C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2057400" cy="777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Tourism data
+ engineered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234440"/>
            <a:ext cx="201168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99032"/>
            <a:ext cx="192024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XGBoost
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2514600"/>
            <a:ext cx="201168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2B8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679192"/>
            <a:ext cx="192024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LightGBM
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74519"/>
            <a:ext cx="169164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E6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039112"/>
            <a:ext cx="160020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Arithmetic
Mean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74519"/>
            <a:ext cx="2514600" cy="914400"/>
          </a:xfrm>
          <a:prstGeom prst="roundRect">
            <a:avLst/>
          </a:prstGeom>
          <a:solidFill>
            <a:srgbClr val="F4F8FB"/>
          </a:solidFill>
          <a:ln>
            <a:solidFill>
              <a:srgbClr val="14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39112"/>
            <a:ext cx="2423160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1">
                <a:solidFill>
                  <a:srgbClr val="143557"/>
                </a:solidFill>
                <a:latin typeface="Aptos"/>
              </a:rPr>
              <a:t>Final tourist
arrival forecast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1691640"/>
            <a:ext cx="457200" cy="22860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1920240"/>
            <a:ext cx="457200" cy="105156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1691640"/>
            <a:ext cx="685800" cy="45720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212080" y="2331720"/>
            <a:ext cx="685800" cy="64008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26679" y="2331720"/>
            <a:ext cx="502921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32120" y="3154680"/>
            <a:ext cx="27432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43557"/>
                </a:solidFill>
                <a:latin typeface="Aptos"/>
              </a:rPr>
              <a:t>ŷ = (ŷXGB + ŷLGBM) /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69080"/>
            <a:ext cx="347472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069080"/>
            <a:ext cx="64008" cy="13258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17880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Why 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526280"/>
            <a:ext cx="3218687" cy="777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Strong nonlinear interactions, robust boosting, effective on mixed tourism features.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069080"/>
            <a:ext cx="347472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069080"/>
            <a:ext cx="64008" cy="132588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17880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Why LightGBM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526280"/>
            <a:ext cx="3218687" cy="777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Efficient gradient boosting with a different tree-growth strategy and complementary errors.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069080"/>
            <a:ext cx="3474720" cy="132588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4069080"/>
            <a:ext cx="64008" cy="132588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417880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Why blend?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4526280"/>
            <a:ext cx="3218687" cy="777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0">
                <a:solidFill>
                  <a:srgbClr val="232B32"/>
                </a:solidFill>
                <a:latin typeface="Aptos"/>
              </a:rPr>
              <a:t>Averaging reduces dependence on one learner and improves forecast stability when errors are not identical.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10. Implementation &amp; Experimental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reported results come from the current project run on the supplied training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5532120" cy="4389120"/>
          </a:xfrm>
          <a:prstGeom prst="roundRect">
            <a:avLst/>
          </a:prstGeom>
          <a:solidFill>
            <a:srgbClr val="F5F8FA"/>
          </a:solidFill>
          <a:ln>
            <a:solidFill>
              <a:srgbClr val="14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# train two learners on the same chronological split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xgb_pred  = xgb_model.fit(X_train, y_train).predict(X_val)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lgb_pred  = lgb_model.fit(X_train, y_train).predict(X_val)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# proposed hybrid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hybrid_pred = (xgb_pred + lgb_pred) / 2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hybrid_pred = np.maximum(hybrid_pred, 0)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# evaluate</a:t>
            </a:r>
          </a:p>
          <a:p>
            <a:pPr>
              <a:spcAft>
                <a:spcPts val="500"/>
              </a:spcAft>
              <a:defRPr sz="1100">
                <a:solidFill>
                  <a:srgbClr val="232B32"/>
                </a:solidFill>
                <a:latin typeface="Consolas"/>
              </a:defRPr>
            </a:pPr>
            <a:r>
              <a:t>MAE, RMSE, MAPE, R2 = evaluate(y_val, hybrid_pred)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5074920" cy="438912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074920" cy="438912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Model candidates were trained using the same feature space and chronological validation period.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Predictions from XGBoost and LightGBM are independently generated.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proposed final prediction is the nonnegative arithmetic mean.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Metrics are calculated on the validation target only.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July test set is used only for future prediction because its target is absent.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Fit time is reported as an additional practical metric.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33872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20" b="1">
                <a:solidFill>
                  <a:srgbClr val="BC4C4C"/>
                </a:solidFill>
                <a:latin typeface="Aptos"/>
              </a:rPr>
              <a:t>Implementation status: model comparison, validation and proposed blend are implemented; final July test scoring requires ground-truth targets that are not supplied.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11. Comparative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Chronological validation results from the current project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43000"/>
          <a:ext cx="11201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MAE ↓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RMSE ↓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MAPE ↓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R² ↑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Fit time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XGBoost +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52.96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33.35%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18.04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ARIMA + LSTM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64.20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108.00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51.42%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0.9434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1.24 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XGBoost +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53.34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30.32%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2.10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SARIMA + XGBoost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62.26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106.94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42.28%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0.9445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B32"/>
                          </a:solidFill>
                          <a:latin typeface="Aptos"/>
                        </a:rPr>
                        <a:t>1.51 s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Proposed: XGBoost + LightGBM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56.02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102.15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34.68%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0.9493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32B32"/>
                          </a:solidFill>
                          <a:latin typeface="Aptos"/>
                        </a:rPr>
                        <a:t>blend</a:t>
                      </a:r>
                    </a:p>
                  </a:txBody>
                  <a:tcPr>
                    <a:solidFill>
                      <a:srgbClr val="DC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572000"/>
            <a:ext cx="342900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64008" cy="105156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468172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Best 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5029200"/>
            <a:ext cx="3172968" cy="502919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XGBoost + LSTM: 52.96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572000"/>
            <a:ext cx="342900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4572000"/>
            <a:ext cx="64008" cy="105156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68172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Best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5029200"/>
            <a:ext cx="3172968" cy="502919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Proposed: 102.15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572000"/>
            <a:ext cx="3429000" cy="10515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572000"/>
            <a:ext cx="64008" cy="105156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681728"/>
            <a:ext cx="317296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Best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029200"/>
            <a:ext cx="3172968" cy="502919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Proposed: 0.9493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70448"/>
            <a:ext cx="106984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1">
                <a:solidFill>
                  <a:srgbClr val="143557"/>
                </a:solidFill>
                <a:latin typeface="Aptos"/>
              </a:rPr>
              <a:t>Important: the proposed hybrid is not best on every metric; XGBoost + Random Forest has the lowest MAPE (30.32%).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12. Statistical / 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proposed hybrid leads on the two metrics emphasized for overall fit and large-error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14</a:t>
            </a:r>
          </a:p>
        </p:txBody>
      </p:sp>
      <p:pic>
        <p:nvPicPr>
          <p:cNvPr id="8" name="Picture 7" descr="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32120" cy="2596276"/>
          </a:xfrm>
          <a:prstGeom prst="rect">
            <a:avLst/>
          </a:prstGeom>
        </p:spPr>
      </p:pic>
      <p:pic>
        <p:nvPicPr>
          <p:cNvPr id="9" name="Picture 8" descr="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532120" cy="25946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5394960"/>
            <a:ext cx="10789920" cy="594360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94960"/>
            <a:ext cx="107899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Interpretation → lower RMSE means fewer large misses; higher R² means more of the validation variation is explained. The proposed blend ranks first on both.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13. Why the Proposed Hybrid Behaves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improvement is attributed to complementary learners—not to a claim of universal superiority.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34416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XGBoost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91640"/>
            <a:ext cx="3218687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70" b="0">
                <a:solidFill>
                  <a:srgbClr val="232B32"/>
                </a:solidFill>
                <a:latin typeface="Aptos"/>
              </a:rPr>
              <a:t>Sequential boosting focuses on reducing residual errors and captures nonlinear feature interactions among tourism, weather, location and time-derived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64008" cy="182880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34416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LightGBM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91640"/>
            <a:ext cx="3218687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70" b="0">
                <a:solidFill>
                  <a:srgbClr val="232B32"/>
                </a:solidFill>
                <a:latin typeface="Aptos"/>
              </a:rPr>
              <a:t>Uses a different gradient-boosting implementation and tree-growth strategy, providing a second view of the same feature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4008" cy="182880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34416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Ensemble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691640"/>
            <a:ext cx="3218687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70" b="0">
                <a:solidFill>
                  <a:srgbClr val="232B32"/>
                </a:solidFill>
                <a:latin typeface="Aptos"/>
              </a:rPr>
              <a:t>The arithmetic mean smooths model-specific errors. If the two learners make different errors, the average can reduce variance.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10789920" cy="20574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10789920" cy="205740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Existing statistical hybrids are more dependent on explicit temporal/seasonal decomposition.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Deep-learning hybrids add modelling complexity and generally need stronger sequence-oriented data support.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proposed model directly fits the heterogeneous tabular feature structure supplied for this project.</a:t>
            </a:r>
          </a:p>
          <a:p>
            <a:pPr>
              <a:spcAft>
                <a:spcPts val="800"/>
              </a:spcAft>
              <a:defRPr sz="1300">
                <a:solidFill>
                  <a:srgbClr val="232B32"/>
                </a:solidFill>
                <a:latin typeface="Aptos"/>
              </a:defRPr>
            </a:pPr>
            <a:r>
              <a:t>The current validation evidence supports selecting the blend for RMSE/R², while acknowledging its MAPE trade-off.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Reasoned selection → data fit + complementary learners + measurable validation improvement on RMSE/R².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14. Architecture: Forecast → Resource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project extends forecasting into a practical tourism-planning decision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C7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82880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40280"/>
            <a:ext cx="1792224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Arrivals + date + area/facility + weather/tourism signals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2514600"/>
            <a:ext cx="256032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82880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240280"/>
            <a:ext cx="1792224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Proposed hybrid / selected validated 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880" y="2514600"/>
            <a:ext cx="256032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E6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072" y="182880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Estimate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240280"/>
            <a:ext cx="1792224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Translate forecast into hotel, transport and attraction demand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2514600"/>
            <a:ext cx="256031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2B8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182880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Check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240280"/>
            <a:ext cx="1792224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Compare with hotel_capacity, transport_capacity, staff_available and attraction_capacity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18320" y="2514600"/>
            <a:ext cx="256032" cy="0"/>
          </a:xfrm>
          <a:prstGeom prst="line">
            <a:avLst/>
          </a:prstGeom>
          <a:ln w="27940">
            <a:solidFill>
              <a:srgbClr val="1E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38359" y="1600200"/>
            <a:ext cx="201168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14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1511" y="1828800"/>
            <a:ext cx="18653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7" y="2240280"/>
            <a:ext cx="1792224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30" b="0">
                <a:solidFill>
                  <a:srgbClr val="232B32"/>
                </a:solidFill>
                <a:latin typeface="Aptos"/>
              </a:rPr>
              <a:t>Flag high utilization and support planning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77639"/>
            <a:ext cx="10698480" cy="502920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43557"/>
                </a:solidFill>
                <a:latin typeface="Aptos"/>
              </a:rPr>
              <a:t>Decision logic: forecast demand → compare demand with capacity → identify potential pressure points → support resource planning.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10607040" cy="114300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232B32"/>
                </a:solidFill>
                <a:latin typeface="Aptos"/>
              </a:defRPr>
            </a:pPr>
            <a:r>
              <a:t>The resource-allocation dataset contains demand, capacity, utilization, priority and management-decision fields.</a:t>
            </a:r>
          </a:p>
          <a:p>
            <a:pPr>
              <a:spcAft>
                <a:spcPts val="800"/>
              </a:spcAft>
              <a:defRPr sz="1150">
                <a:solidFill>
                  <a:srgbClr val="232B32"/>
                </a:solidFill>
                <a:latin typeface="Aptos"/>
              </a:defRPr>
            </a:pPr>
            <a:r>
              <a:t>Joins between forecasting and allocation data must be validated before quantitative capacity claims are made.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15. Dashboard /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The dashboard connects model comparison, EDA, forecasting and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17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543800" cy="52261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234440"/>
            <a:ext cx="32461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64008" cy="123444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344168"/>
            <a:ext cx="29900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691640"/>
            <a:ext cx="2990087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20" b="0">
                <a:solidFill>
                  <a:srgbClr val="232B32"/>
                </a:solidFill>
                <a:latin typeface="Aptos"/>
              </a:rPr>
              <a:t>Shows candidate models, primary metrics and the recommended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97480"/>
            <a:ext cx="32461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697480"/>
            <a:ext cx="64008" cy="1234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807208"/>
            <a:ext cx="29900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EDA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54680"/>
            <a:ext cx="2990087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20" b="0">
                <a:solidFill>
                  <a:srgbClr val="232B32"/>
                </a:solidFill>
                <a:latin typeface="Aptos"/>
              </a:rPr>
              <a:t>Displays missing values, seasonality, outliers and correlation indicators.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160520"/>
            <a:ext cx="3246120" cy="12344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160520"/>
            <a:ext cx="64008" cy="123444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270248"/>
            <a:ext cx="29900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Predictive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617720"/>
            <a:ext cx="2990087" cy="6858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20" b="0">
                <a:solidFill>
                  <a:srgbClr val="232B32"/>
                </a:solidFill>
                <a:latin typeface="Aptos"/>
              </a:rPr>
              <a:t>Seasonality, forecast and origin/segment analytics can be viewed together.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623560"/>
            <a:ext cx="3246120" cy="438912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5623560"/>
            <a:ext cx="32461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143557"/>
                </a:solidFill>
                <a:latin typeface="Aptos"/>
              </a:rPr>
              <a:t>Use dashboard outputs for interpretation—not as a substitute for model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16. Research Paper Evaluation &amp; Novelty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Literature is used to justify the model family and to avoid presenting an existing hybrid as a new contribution.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43000"/>
          <a:ext cx="11201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Literature direction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What it demonstrates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Aptos"/>
                        </a:rPr>
                        <a:t>Implication for our project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Tourism demand forecasting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Multiple forecasting families and combinations have been studied; no single method dominates all contexts.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Compare alternatives rather than assuming one universal best model.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SARIMA–CNN–LSTM (2021)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Linear seasonality + nonlinear deep learning for daily tourism demand.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Supports hybrid thinking, but is more sequence/deep-learning intensive.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RobustSTL–ARIMA–LSTM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Decomposition + statistical + DL hybrid for tourism demand.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Shows benefit of decomposition, but increases pipeline complexity.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Denoise–decompose–XGBoost (2026)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Multi-source predictors, leakage-free expanding-window protocol and tree-based learning.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Supports careful preprocessing and tree-based forecasting for tourism data.</a:t>
                      </a:r>
                    </a:p>
                  </a:txBody>
                  <a:tcPr>
                    <a:solidFill>
                      <a:srgbClr val="F4F8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RF / XGBoost / LightGBM tourism studies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Tree ensembles are effective for nonlinear tourism predictors.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232B32"/>
                          </a:solidFill>
                          <a:latin typeface="Aptos"/>
                        </a:rPr>
                        <a:t>Supports a practical tree-based hybrid for heterogeneous tabular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343400"/>
            <a:ext cx="640080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6400800" cy="150876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130">
                <a:solidFill>
                  <a:srgbClr val="232B32"/>
                </a:solidFill>
                <a:latin typeface="Aptos"/>
              </a:defRPr>
            </a:pPr>
            <a:r>
              <a:t>Novelty claim is deliberately narrow: a project-specific XGBoost + LightGBM ensemble evaluated on the prescribed dataset and connected to a resource-allocation layer.</a:t>
            </a:r>
          </a:p>
          <a:p>
            <a:pPr>
              <a:spcAft>
                <a:spcPts val="800"/>
              </a:spcAft>
              <a:defRPr sz="1130">
                <a:solidFill>
                  <a:srgbClr val="232B32"/>
                </a:solidFill>
                <a:latin typeface="Aptos"/>
              </a:defRPr>
            </a:pPr>
            <a:r>
              <a:t>Do not claim “first ever” without exhaustive literature evidence.</a:t>
            </a:r>
          </a:p>
          <a:p>
            <a:pPr>
              <a:spcAft>
                <a:spcPts val="800"/>
              </a:spcAft>
              <a:defRPr sz="1130">
                <a:solidFill>
                  <a:srgbClr val="232B32"/>
                </a:solidFill>
                <a:latin typeface="Aptos"/>
              </a:defRPr>
            </a:pPr>
            <a:r>
              <a:t>Current search did not identify a directly matching tourism-arrivals study using this exact arithmetic-mean combination on this prescribed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4343400"/>
            <a:ext cx="4160520" cy="150876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4343400"/>
            <a:ext cx="64008" cy="150876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4453128"/>
            <a:ext cx="39044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Novelty statement for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800600"/>
            <a:ext cx="3904487" cy="960119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80" b="0">
                <a:solidFill>
                  <a:srgbClr val="232B32"/>
                </a:solidFill>
                <a:latin typeface="Aptos"/>
              </a:rPr>
              <a:t>“Our contribution is the evaluated combination and decision-support workflow, not inventing XGBoost or LightGBM themselves.”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43557"/>
                </a:solidFill>
                <a:latin typeface="Aptos Display"/>
              </a:rPr>
              <a:t>17. Results, Discussion, Key Insights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589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874"/>
                </a:solidFill>
                <a:latin typeface="Aptos"/>
              </a:rPr>
              <a:t>Final review summary aligned with the supplied project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8046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5C6874"/>
                </a:solidFill>
                <a:latin typeface="Aptos"/>
              </a:rPr>
              <a:t>DAV PROJECT • REVIEW 3 • Smart Tourism Forecasting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5C6874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143000"/>
            <a:ext cx="64008" cy="1828800"/>
          </a:xfrm>
          <a:prstGeom prst="rect">
            <a:avLst/>
          </a:prstGeom>
          <a:solidFill>
            <a:srgbClr val="2B8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25272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00200"/>
            <a:ext cx="3218687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• Proposed hybrid RMSE = 102.15
• Proposed hybrid R² = 0.9493
• Lowest RMSE and highest R² in current comparison
• XGBoost + RF has lowest MAPE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4300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64008" cy="1828800"/>
          </a:xfrm>
          <a:prstGeom prst="rect">
            <a:avLst/>
          </a:prstGeom>
          <a:solidFill>
            <a:srgbClr val="2C7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25272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Key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00200"/>
            <a:ext cx="3218687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• Target is strongly right-skewed
• Date and tourism/weather features matter
• Chronological validation is essential
• No valid July test score is possible without target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64008" cy="1828800"/>
          </a:xfrm>
          <a:prstGeom prst="rect">
            <a:avLst/>
          </a:prstGeom>
          <a:solidFill>
            <a:srgbClr val="E68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252728"/>
            <a:ext cx="3218687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1">
                <a:solidFill>
                  <a:srgbClr val="143557"/>
                </a:solidFill>
                <a:latin typeface="Aptos"/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600200"/>
            <a:ext cx="3218687" cy="12801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>
                <a:solidFill>
                  <a:srgbClr val="232B32"/>
                </a:solidFill>
                <a:latin typeface="Aptos"/>
              </a:rPr>
              <a:t>• Validation covers Apr–May 2019
• Rows are area/facility combinations
• Supporting datasets need validated joins
• Novelty is not a claim of universal firstness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3280"/>
            <a:ext cx="10789920" cy="2148840"/>
          </a:xfrm>
          <a:prstGeom prst="roundRect">
            <a:avLst/>
          </a:prstGeom>
          <a:solidFill>
            <a:srgbClr val="F4F8FB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83280"/>
            <a:ext cx="10789920" cy="2148840"/>
          </a:xfrm>
          <a:prstGeom prst="rect">
            <a:avLst/>
          </a:prstGeom>
          <a:noFill/>
        </p:spPr>
        <p:txBody>
          <a:bodyPr wrap="square" lIns="118872" tIns="91440" bIns="54864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Run rolling-origin validation and residual diagnostics.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Tune the proposed models under the same leakage-free protocol.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Generate July predictions for test_df.csv and retain them separately from validation metrics.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Validate the mapping from forecasts to capacity/resource fields.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Finalize dashboard screenshots and reproducible implementation evidence.</a:t>
            </a:r>
          </a:p>
          <a:p>
            <a:pPr>
              <a:spcAft>
                <a:spcPts val="800"/>
              </a:spcAft>
              <a:defRPr sz="1250">
                <a:solidFill>
                  <a:srgbClr val="232B32"/>
                </a:solidFill>
                <a:latin typeface="Aptos"/>
              </a:defRPr>
            </a:pPr>
            <a:r>
              <a:t>Document the GitHub repository, code, dataset handling and research-paper references.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06440"/>
            <a:ext cx="10789920" cy="411480"/>
          </a:xfrm>
          <a:prstGeom prst="roundRect">
            <a:avLst/>
          </a:prstGeom>
          <a:solidFill>
            <a:srgbClr val="DCF4F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143557"/>
                </a:solidFill>
                <a:latin typeface="Aptos"/>
              </a:rPr>
              <a:t>FINAL MESSAGE → The hybrid is selected because it gives the strongest balanced validation fit in the current experiment while remaining suitable for heterogeneous tourism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43557"/>
                </a:solidFill>
                <a:latin typeface="Aptos"/>
              </a:rPr>
              <a:t>18. Literature Paper Comparison: XGBoost + LightGBM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03504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874"/>
                </a:solidFill>
                <a:latin typeface="Aptos"/>
              </a:rPr>
              <a:t>Studies using the same boosting components or closely related tree-based hybrid ensembles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7472" y="1078992"/>
          <a:ext cx="99669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17320"/>
                <a:gridCol w="1920240"/>
                <a:gridCol w="2423160"/>
                <a:gridCol w="2103120"/>
              </a:tblGrid>
              <a:tr h="7589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Literature paper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Tourism task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Model(s) used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What it shows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Relation to our proposed hybrid</a:t>
                      </a:r>
                    </a:p>
                  </a:txBody>
                  <a:tcPr>
                    <a:solidFill>
                      <a:srgbClr val="143557"/>
                    </a:solidFill>
                  </a:tcPr>
                </a:tc>
              </a:tr>
              <a:tr h="758952"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Jeju visitor-demand study (2025/26)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Daily tourist-attraction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XGBoost + Random Forest + 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Integrates three tree-based learners and reports improved daily forecasting after temporal disaggregation.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Closest literature match: uses BOTH XGBoost and LightGBM in one ensemble, supporting the complementary-tree idea.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Peru tourist-flow study (2026)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Tourist flows at major destinations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XGBoost; LightGBM; RF; other ML models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Both XGBoost and LightGBM are evaluated for heterogeneous destination-level tourism predictors.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Supports choosing both learners for tabular tourism data, but the paper compares them individually rather than averaging them.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758952"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Samarkand tourism forecasting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Visitor flows and tourism revenues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SARIMA, Holt-Winters, XGBoost, 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Shows statistical and boosting models can address seasonal and multivariate tourism patterns.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Supports combining statistical/model-family evidence with tree boosting; our model simplifies the hybrid for heterogeneous rows.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1">
                          <a:solidFill>
                            <a:srgbClr val="232B32"/>
                          </a:solidFill>
                          <a:latin typeface="Aptos"/>
                        </a:rPr>
                        <a:t>Bulgaria tourism-demand study (2025)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Monthly overnight stays + economic indicators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LightGBM, XGBoost, Prophet, Ridge; ensembles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Ensemble approaches outperformed several individual and deep-learning alternatives in the reported experiment.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wrap="square" lIns="54864" rIns="45720" tIns="36576" bIns="27432"/>
                    <a:lstStyle/>
                    <a:p>
                      <a:pPr algn="l"/>
                      <a:r>
                        <a:rPr sz="819" b="0">
                          <a:solidFill>
                            <a:srgbClr val="232B32"/>
                          </a:solidFill>
                          <a:latin typeface="Aptos"/>
                        </a:rPr>
                        <a:t>Supports ensemble forecasting; our contribution is the simpler XGBoost + LightGBM arithmetic-mean blend.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5047488"/>
            <a:ext cx="9875520" cy="713232"/>
          </a:xfrm>
          <a:prstGeom prst="roundRect">
            <a:avLst/>
          </a:prstGeom>
          <a:solidFill>
            <a:srgbClr val="E8F1F8"/>
          </a:solidFill>
          <a:ln>
            <a:solidFill>
              <a:srgbClr val="144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43557"/>
                </a:solidFill>
                <a:latin typeface="Aptos"/>
              </a:rPr>
              <a:t>Literature gap → </a:t>
            </a:r>
            <a:r>
              <a:rPr sz="1100">
                <a:solidFill>
                  <a:srgbClr val="232B32"/>
                </a:solidFill>
                <a:latin typeface="Aptos"/>
              </a:rPr>
              <a:t>The reviewed studies support XGBoost and LightGBM individually or inside broader ensembles; an exact tourism-arrivals study using our prescribed arithmetic-mean XGBoost + LightGBM blend was not identified.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8704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7552"/>
                </a:solidFill>
                <a:latin typeface="Aptos"/>
              </a:rPr>
              <a:t>Our proposed model: XGBoost + LightGBM → same feature space → independent predictions → arithmetic mean → final tourist-arrival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9963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>
                <a:solidFill>
                  <a:srgbClr val="5C6874"/>
                </a:solidFill>
                <a:latin typeface="Aptos"/>
              </a:rPr>
              <a:t>References: Jeju tourist-demand tree ensemble study (KCI, 2025/26) • Frontiers in Sustainable Tourism, 2026, DOI 10.3389/frsut.2026.1876343 • AIP Conf. Proc. 3377, 060015 (2025), DOI 10.1063/5.0299644 • Tourism demand forecasting with economic indicators, 2025, DOI 10.3390/fintech4030046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654710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5C6874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